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1" d="100"/>
          <a:sy n="61" d="100"/>
        </p:scale>
        <p:origin x="61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70295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5CCEFE3-84BF-A523-D113-D83EE435E555}"/>
              </a:ext>
            </a:extLst>
          </p:cNvPr>
          <p:cNvSpPr>
            <a:spLocks noGrp="1"/>
          </p:cNvSpPr>
          <p:nvPr>
            <p:ph type="ctrTitle"/>
          </p:nvPr>
        </p:nvSpPr>
        <p:spPr>
          <a:xfrm>
            <a:off x="1828800" y="1346836"/>
            <a:ext cx="10972800" cy="2865120"/>
          </a:xfrm>
        </p:spPr>
        <p:txBody>
          <a:bodyPr anchor="b"/>
          <a:lstStyle>
            <a:lvl1pPr algn="ctr">
              <a:defRPr sz="72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0E8B1356-2680-94DB-05B3-5309184F511A}"/>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0E7D2A1E-D073-AC58-239C-55EE9EC323F3}"/>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B292B245-0D7B-566F-410A-0DB412F0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9CDE70C-0467-6EB7-A05D-25769EB68EA9}"/>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2176571972"/>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66421B-9856-2879-4986-629B61C385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45FF54F2-19B9-8313-CD6B-A8FF926A39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E20824E-E273-307A-2EE2-E87011E64FE0}"/>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8BB55521-558C-C19F-01FC-96AE479F0A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162D7047-6419-F487-0EAC-67DE655C6A05}"/>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35068686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A8CEF5F-8E85-13A0-EA61-8EA3D700C573}"/>
              </a:ext>
            </a:extLst>
          </p:cNvPr>
          <p:cNvSpPr>
            <a:spLocks noGrp="1"/>
          </p:cNvSpPr>
          <p:nvPr>
            <p:ph type="title"/>
          </p:nvPr>
        </p:nvSpPr>
        <p:spPr>
          <a:xfrm>
            <a:off x="998220" y="2051686"/>
            <a:ext cx="12618720" cy="3423284"/>
          </a:xfrm>
        </p:spPr>
        <p:txBody>
          <a:bodyPr anchor="b"/>
          <a:lstStyle>
            <a:lvl1pPr>
              <a:defRPr sz="72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0ECEE3B3-FE55-C9F8-B4F6-A39EB1272EEB}"/>
              </a:ext>
            </a:extLst>
          </p:cNvPr>
          <p:cNvSpPr>
            <a:spLocks noGrp="1"/>
          </p:cNvSpPr>
          <p:nvPr>
            <p:ph type="body" idx="1"/>
          </p:nvPr>
        </p:nvSpPr>
        <p:spPr>
          <a:xfrm>
            <a:off x="998220" y="5507356"/>
            <a:ext cx="12618720" cy="1800224"/>
          </a:xfrm>
        </p:spPr>
        <p:txBody>
          <a:bodyPr/>
          <a:lstStyle>
            <a:lvl1pPr marL="0" indent="0">
              <a:buNone/>
              <a:defRPr sz="2880">
                <a:solidFill>
                  <a:schemeClr val="tx1">
                    <a:tint val="75000"/>
                  </a:schemeClr>
                </a:solidFill>
              </a:defRPr>
            </a:lvl1pPr>
            <a:lvl2pPr marL="548640" indent="0">
              <a:buNone/>
              <a:defRPr sz="2400">
                <a:solidFill>
                  <a:schemeClr val="tx1">
                    <a:tint val="75000"/>
                  </a:schemeClr>
                </a:solidFill>
              </a:defRPr>
            </a:lvl2pPr>
            <a:lvl3pPr marL="1097280" indent="0">
              <a:buNone/>
              <a:defRPr sz="2160">
                <a:solidFill>
                  <a:schemeClr val="tx1">
                    <a:tint val="75000"/>
                  </a:schemeClr>
                </a:solidFill>
              </a:defRPr>
            </a:lvl3pPr>
            <a:lvl4pPr marL="1645920" indent="0">
              <a:buNone/>
              <a:defRPr sz="1920">
                <a:solidFill>
                  <a:schemeClr val="tx1">
                    <a:tint val="75000"/>
                  </a:schemeClr>
                </a:solidFill>
              </a:defRPr>
            </a:lvl4pPr>
            <a:lvl5pPr marL="2194560" indent="0">
              <a:buNone/>
              <a:defRPr sz="1920">
                <a:solidFill>
                  <a:schemeClr val="tx1">
                    <a:tint val="75000"/>
                  </a:schemeClr>
                </a:solidFill>
              </a:defRPr>
            </a:lvl5pPr>
            <a:lvl6pPr marL="2743200" indent="0">
              <a:buNone/>
              <a:defRPr sz="1920">
                <a:solidFill>
                  <a:schemeClr val="tx1">
                    <a:tint val="75000"/>
                  </a:schemeClr>
                </a:solidFill>
              </a:defRPr>
            </a:lvl6pPr>
            <a:lvl7pPr marL="3291840" indent="0">
              <a:buNone/>
              <a:defRPr sz="1920">
                <a:solidFill>
                  <a:schemeClr val="tx1">
                    <a:tint val="75000"/>
                  </a:schemeClr>
                </a:solidFill>
              </a:defRPr>
            </a:lvl7pPr>
            <a:lvl8pPr marL="3840480" indent="0">
              <a:buNone/>
              <a:defRPr sz="1920">
                <a:solidFill>
                  <a:schemeClr val="tx1">
                    <a:tint val="75000"/>
                  </a:schemeClr>
                </a:solidFill>
              </a:defRPr>
            </a:lvl8pPr>
            <a:lvl9pPr marL="4389120" indent="0">
              <a:buNone/>
              <a:defRPr sz="192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EFEF387A-52DE-6C13-43B7-3198EB64D484}"/>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B74A1E1C-B412-5615-A6A1-8B61919C3BD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B846CB6C-B0AA-6157-423E-D1B0C107863A}"/>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222383790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16F08E5-0B1C-3B3C-D947-53C164E3B04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17959299-B4D3-0B24-2F2B-DCFA1CBD38DB}"/>
              </a:ext>
            </a:extLst>
          </p:cNvPr>
          <p:cNvSpPr>
            <a:spLocks noGrp="1"/>
          </p:cNvSpPr>
          <p:nvPr>
            <p:ph sz="half" idx="1"/>
          </p:nvPr>
        </p:nvSpPr>
        <p:spPr>
          <a:xfrm>
            <a:off x="10058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EE2F5685-5DBB-2BFA-54A9-757FB0BB07CB}"/>
              </a:ext>
            </a:extLst>
          </p:cNvPr>
          <p:cNvSpPr>
            <a:spLocks noGrp="1"/>
          </p:cNvSpPr>
          <p:nvPr>
            <p:ph sz="half" idx="2"/>
          </p:nvPr>
        </p:nvSpPr>
        <p:spPr>
          <a:xfrm>
            <a:off x="7406640" y="2190750"/>
            <a:ext cx="6217920" cy="52216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1999F5F8-94A3-0D39-DA1D-AAFE685631A6}"/>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6" name="Footer Placeholder 5">
            <a:extLst>
              <a:ext uri="{FF2B5EF4-FFF2-40B4-BE49-F238E27FC236}">
                <a16:creationId xmlns:a16="http://schemas.microsoft.com/office/drawing/2014/main" xmlns="" id="{AFD3758B-6E09-39E5-F290-9D3EDC5F47D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B23ABE61-E542-18A4-73FA-D08EF97DFA3B}"/>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220029530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9D8AC0-0BE5-39BC-0F2F-03CFBA43C2DF}"/>
              </a:ext>
            </a:extLst>
          </p:cNvPr>
          <p:cNvSpPr>
            <a:spLocks noGrp="1"/>
          </p:cNvSpPr>
          <p:nvPr>
            <p:ph type="title"/>
          </p:nvPr>
        </p:nvSpPr>
        <p:spPr>
          <a:xfrm>
            <a:off x="1007746" y="438150"/>
            <a:ext cx="12618720" cy="1590676"/>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96177D8B-8504-6F03-BE70-C9E90DDA5DAC}"/>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AA9F1A0-BFCB-B4E2-BA08-FBF41D16F9A5}"/>
              </a:ext>
            </a:extLst>
          </p:cNvPr>
          <p:cNvSpPr>
            <a:spLocks noGrp="1"/>
          </p:cNvSpPr>
          <p:nvPr>
            <p:ph sz="half" idx="2"/>
          </p:nvPr>
        </p:nvSpPr>
        <p:spPr>
          <a:xfrm>
            <a:off x="1007746" y="3006090"/>
            <a:ext cx="6189344"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647C6E58-D98B-5AFE-B825-40165B8A3D50}"/>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488898BC-4112-5274-9046-61E3948DE821}"/>
              </a:ext>
            </a:extLst>
          </p:cNvPr>
          <p:cNvSpPr>
            <a:spLocks noGrp="1"/>
          </p:cNvSpPr>
          <p:nvPr>
            <p:ph sz="quarter" idx="4"/>
          </p:nvPr>
        </p:nvSpPr>
        <p:spPr>
          <a:xfrm>
            <a:off x="7406640" y="3006090"/>
            <a:ext cx="6219826" cy="44215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B38CAD21-C5B6-7D34-7E91-7FE3E4A70847}"/>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8" name="Footer Placeholder 7">
            <a:extLst>
              <a:ext uri="{FF2B5EF4-FFF2-40B4-BE49-F238E27FC236}">
                <a16:creationId xmlns:a16="http://schemas.microsoft.com/office/drawing/2014/main" xmlns="" id="{ABA44E04-B32F-ED02-D296-96DF1C9B808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xmlns="" id="{CF5DD5BA-A599-519F-C5D5-903FC1407AE3}"/>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345697179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2D9064B-4761-6CCA-5B7D-F2E913895B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930FB85F-876F-1A58-02A9-E774F6278D6C}"/>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4" name="Footer Placeholder 3">
            <a:extLst>
              <a:ext uri="{FF2B5EF4-FFF2-40B4-BE49-F238E27FC236}">
                <a16:creationId xmlns:a16="http://schemas.microsoft.com/office/drawing/2014/main" xmlns="" id="{1593E103-4F51-F595-A608-0C5DC969DF0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xmlns="" id="{DC40D60A-8CF2-C6DC-80B3-9D53A01F47D7}"/>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41398336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818615A7-6059-E590-1071-4DFE7BFA709B}"/>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3" name="Footer Placeholder 2">
            <a:extLst>
              <a:ext uri="{FF2B5EF4-FFF2-40B4-BE49-F238E27FC236}">
                <a16:creationId xmlns:a16="http://schemas.microsoft.com/office/drawing/2014/main" xmlns="" id="{12278D0C-6156-948A-9E6F-2938321A22D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xmlns="" id="{48DFF4CB-1A4C-1AB8-C098-7CB5BB0B942D}"/>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278122761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D22DB6-B227-AEF4-811F-055F9D9916B1}"/>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E586A4E8-81F2-F6C4-20D6-0CC99A4C5A3B}"/>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4F656834-C8FF-2C29-DE32-0233E5AB5E3C}"/>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xmlns="" id="{5AE0974C-0140-B373-0BA1-1333A8BC7BE5}"/>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6" name="Footer Placeholder 5">
            <a:extLst>
              <a:ext uri="{FF2B5EF4-FFF2-40B4-BE49-F238E27FC236}">
                <a16:creationId xmlns:a16="http://schemas.microsoft.com/office/drawing/2014/main" xmlns="" id="{A6678956-2D87-C6EA-02EC-B398E3BAE5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5ED5F440-09E0-3DB6-7641-0415863A0F92}"/>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71224613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BF38B1-5399-632D-5066-F34DED5F40EB}"/>
              </a:ext>
            </a:extLst>
          </p:cNvPr>
          <p:cNvSpPr>
            <a:spLocks noGrp="1"/>
          </p:cNvSpPr>
          <p:nvPr>
            <p:ph type="title"/>
          </p:nvPr>
        </p:nvSpPr>
        <p:spPr>
          <a:xfrm>
            <a:off x="1007746" y="548640"/>
            <a:ext cx="4718684" cy="1920240"/>
          </a:xfrm>
        </p:spPr>
        <p:txBody>
          <a:bodyPr anchor="b"/>
          <a:lstStyle>
            <a:lvl1pPr>
              <a:defRPr sz="384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173CC391-8367-3365-04A5-145DF90AE556}"/>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n-IN"/>
          </a:p>
        </p:txBody>
      </p:sp>
      <p:sp>
        <p:nvSpPr>
          <p:cNvPr id="4" name="Text Placeholder 3">
            <a:extLst>
              <a:ext uri="{FF2B5EF4-FFF2-40B4-BE49-F238E27FC236}">
                <a16:creationId xmlns:a16="http://schemas.microsoft.com/office/drawing/2014/main" xmlns="" id="{B8307242-A65F-4ACA-24FD-80C86FBDF959}"/>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n-US"/>
              <a:t>Click to edit Master text styles</a:t>
            </a:r>
          </a:p>
        </p:txBody>
      </p:sp>
      <p:sp>
        <p:nvSpPr>
          <p:cNvPr id="5" name="Date Placeholder 4">
            <a:extLst>
              <a:ext uri="{FF2B5EF4-FFF2-40B4-BE49-F238E27FC236}">
                <a16:creationId xmlns:a16="http://schemas.microsoft.com/office/drawing/2014/main" xmlns="" id="{B7DD974A-F9F6-5482-85BA-B83070A894D4}"/>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6" name="Footer Placeholder 5">
            <a:extLst>
              <a:ext uri="{FF2B5EF4-FFF2-40B4-BE49-F238E27FC236}">
                <a16:creationId xmlns:a16="http://schemas.microsoft.com/office/drawing/2014/main" xmlns="" id="{F3EFAAC3-8E62-07B1-EDFB-E0387C31879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xmlns="" id="{DCB7DDF3-C9B4-7345-B5C3-EFEF275CF299}"/>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93647094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0DB19E-470B-97F2-4D9D-8774F63AB8D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EB043A7-CF5D-07BD-7343-FAD635F14C6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7F9AC8A4-522E-5DA1-AD1F-8EADF36DB98C}"/>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CD6B0AF0-9E4A-BAD7-0FEF-0AF62C51BB3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8E24EE12-0222-5E3B-B5A2-26AC49E766CE}"/>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24170212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F4DFCAEF-D181-3ED5-183C-7BBCB8DB2FAC}"/>
              </a:ext>
            </a:extLst>
          </p:cNvPr>
          <p:cNvSpPr>
            <a:spLocks noGrp="1"/>
          </p:cNvSpPr>
          <p:nvPr>
            <p:ph type="title" orient="vert"/>
          </p:nvPr>
        </p:nvSpPr>
        <p:spPr>
          <a:xfrm>
            <a:off x="10469880" y="438150"/>
            <a:ext cx="3154680" cy="6974206"/>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A85BF0E0-F077-125F-49DD-A42EB0E9C851}"/>
              </a:ext>
            </a:extLst>
          </p:cNvPr>
          <p:cNvSpPr>
            <a:spLocks noGrp="1"/>
          </p:cNvSpPr>
          <p:nvPr>
            <p:ph type="body" orient="vert" idx="1"/>
          </p:nvPr>
        </p:nvSpPr>
        <p:spPr>
          <a:xfrm>
            <a:off x="1005840" y="438150"/>
            <a:ext cx="9281160" cy="69742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F274011B-5DDE-DE9C-ED49-A389CB72AEC3}"/>
              </a:ext>
            </a:extLst>
          </p:cNvPr>
          <p:cNvSpPr>
            <a:spLocks noGrp="1"/>
          </p:cNvSpPr>
          <p:nvPr>
            <p:ph type="dt" sz="half" idx="10"/>
          </p:nvPr>
        </p:nvSpPr>
        <p:spPr/>
        <p:txBody>
          <a:body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95D9EA9F-E101-E104-494C-EB4E90A446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xmlns="" id="{3CA2CE55-FF82-0CF8-0525-7BC6C7B35FA7}"/>
              </a:ext>
            </a:extLst>
          </p:cNvPr>
          <p:cNvSpPr>
            <a:spLocks noGrp="1"/>
          </p:cNvSpPr>
          <p:nvPr>
            <p:ph type="sldNum" sz="quarter" idx="12"/>
          </p:nvPr>
        </p:nvSpPr>
        <p:spPr/>
        <p:txBody>
          <a:bodyPr/>
          <a:lstStyle/>
          <a:p>
            <a:fld id="{86BAD1ED-878A-40CB-AF38-62D9E567F9EB}" type="slidenum">
              <a:rPr lang="en-IN" smtClean="0"/>
              <a:t>‹#›</a:t>
            </a:fld>
            <a:endParaRPr lang="en-IN"/>
          </a:p>
        </p:txBody>
      </p:sp>
    </p:spTree>
    <p:extLst>
      <p:ext uri="{BB962C8B-B14F-4D97-AF65-F5344CB8AC3E}">
        <p14:creationId xmlns:p14="http://schemas.microsoft.com/office/powerpoint/2010/main" val="79385670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28620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2215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7815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4939359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0062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193105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7509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E34CAA6C-CDE8-8A90-044C-14DC5F5C8CAF}"/>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F771AF66-F9F7-3BB0-EC4D-B677180712E3}"/>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50BBAEAC-C395-7682-B48D-9F7BC212F4A0}"/>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1A56F3C9-76BD-4D54-BD15-CD4500F113CE}" type="datetimeFigureOut">
              <a:rPr lang="en-IN" smtClean="0"/>
              <a:t>24-03-2025</a:t>
            </a:fld>
            <a:endParaRPr lang="en-IN"/>
          </a:p>
        </p:txBody>
      </p:sp>
      <p:sp>
        <p:nvSpPr>
          <p:cNvPr id="5" name="Footer Placeholder 4">
            <a:extLst>
              <a:ext uri="{FF2B5EF4-FFF2-40B4-BE49-F238E27FC236}">
                <a16:creationId xmlns:a16="http://schemas.microsoft.com/office/drawing/2014/main" xmlns="" id="{C483A06B-6803-6F7F-F3F7-5D29CACD6F26}"/>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xmlns="" id="{5F403EEB-31DE-FE82-9802-A13E602D237E}"/>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86BAD1ED-878A-40CB-AF38-62D9E567F9EB}" type="slidenum">
              <a:rPr lang="en-IN" smtClean="0"/>
              <a:t>‹#›</a:t>
            </a:fld>
            <a:endParaRPr lang="en-IN"/>
          </a:p>
        </p:txBody>
      </p:sp>
    </p:spTree>
    <p:extLst>
      <p:ext uri="{BB962C8B-B14F-4D97-AF65-F5344CB8AC3E}">
        <p14:creationId xmlns:p14="http://schemas.microsoft.com/office/powerpoint/2010/main" val="2946358444"/>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14.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5.png"/><Relationship Id="rId11" Type="http://schemas.openxmlformats.org/officeDocument/2006/relationships/image" Target="../media/image6.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350210" y="-1066246"/>
            <a:ext cx="5486400" cy="8229600"/>
          </a:xfrm>
          <a:prstGeom prst="rect">
            <a:avLst/>
          </a:prstGeom>
        </p:spPr>
      </p:pic>
      <p:sp>
        <p:nvSpPr>
          <p:cNvPr id="3" name="Text 0"/>
          <p:cNvSpPr/>
          <p:nvPr/>
        </p:nvSpPr>
        <p:spPr>
          <a:xfrm>
            <a:off x="793790" y="2328624"/>
            <a:ext cx="7556421" cy="1417558"/>
          </a:xfrm>
          <a:prstGeom prst="rect">
            <a:avLst/>
          </a:prstGeom>
          <a:noFill/>
          <a:ln/>
        </p:spPr>
        <p:txBody>
          <a:bodyPr wrap="squar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Revolutionizing Cricket: The IPL Ticket Booking System</a:t>
            </a:r>
            <a:endParaRPr lang="en-US" sz="4450" dirty="0"/>
          </a:p>
        </p:txBody>
      </p:sp>
      <p:sp>
        <p:nvSpPr>
          <p:cNvPr id="4" name="Text 1"/>
          <p:cNvSpPr/>
          <p:nvPr/>
        </p:nvSpPr>
        <p:spPr>
          <a:xfrm>
            <a:off x="793790" y="4086344"/>
            <a:ext cx="7556421" cy="1814513"/>
          </a:xfrm>
          <a:prstGeom prst="rect">
            <a:avLst/>
          </a:prstGeom>
          <a:noFill/>
          <a:ln/>
        </p:spPr>
        <p:txBody>
          <a:bodyPr wrap="square" lIns="0" tIns="0" rIns="0" bIns="0" rtlCol="0" anchor="t"/>
          <a:lstStyle/>
          <a:p>
            <a:pPr marL="0" indent="0" algn="l">
              <a:lnSpc>
                <a:spcPts val="2850"/>
              </a:lnSpc>
              <a:buNone/>
            </a:pPr>
            <a:r>
              <a:rPr lang="en-US" sz="1750" kern="0" spc="-36" dirty="0" smtClean="0">
                <a:latin typeface="Inter" pitchFamily="34" charset="0"/>
                <a:ea typeface="Inter" pitchFamily="34" charset="-122"/>
                <a:cs typeface="Inter" pitchFamily="34" charset="-120"/>
              </a:rPr>
              <a:t>The Indian Premier League (IPL) boasts a massive fan base of over 600 million viewers. Managing high ticket demand while ensuring fair access is challenging. The IPL ticket booking system addresses these challenges through innovative technology. This presentation overviews the system's key features and benefits.</a:t>
            </a:r>
          </a:p>
          <a:p>
            <a:pPr marL="0" indent="0" algn="l">
              <a:lnSpc>
                <a:spcPts val="2850"/>
              </a:lnSpc>
              <a:buNone/>
            </a:pPr>
            <a:endParaRPr lang="en-US" sz="1750" kern="0" spc="-36" dirty="0">
              <a:latin typeface="Inter" pitchFamily="34" charset="0"/>
              <a:ea typeface="Inter" pitchFamily="34" charset="-122"/>
            </a:endParaRPr>
          </a:p>
          <a:p>
            <a:pPr marL="0" indent="0" algn="l">
              <a:lnSpc>
                <a:spcPts val="2850"/>
              </a:lnSpc>
              <a:buNone/>
            </a:pPr>
            <a:endParaRPr lang="en-US" sz="1750" kern="0" spc="-36" dirty="0" smtClean="0">
              <a:latin typeface="Inter" pitchFamily="34" charset="0"/>
              <a:ea typeface="Inter" pitchFamily="34" charset="-122"/>
            </a:endParaRPr>
          </a:p>
          <a:p>
            <a:pPr marL="0" indent="0" algn="l">
              <a:lnSpc>
                <a:spcPts val="2850"/>
              </a:lnSpc>
              <a:buNone/>
            </a:pPr>
            <a:endParaRPr lang="en-US" sz="1750" kern="0" spc="-36" dirty="0">
              <a:latin typeface="Inter" pitchFamily="34" charset="0"/>
              <a:ea typeface="Inter" pitchFamily="34" charset="-122"/>
            </a:endParaRPr>
          </a:p>
          <a:p>
            <a:pPr marL="0" indent="0" algn="l">
              <a:lnSpc>
                <a:spcPts val="2850"/>
              </a:lnSpc>
              <a:buNone/>
            </a:pPr>
            <a:r>
              <a:rPr lang="en-US" sz="1750" kern="0" spc="-36" dirty="0" smtClean="0">
                <a:latin typeface="Inter" pitchFamily="34" charset="0"/>
                <a:ea typeface="Inter" pitchFamily="34" charset="-122"/>
              </a:rPr>
              <a:t>BY VANSH MADAAN 500123857</a:t>
            </a:r>
          </a:p>
          <a:p>
            <a:pPr marL="0" indent="0" algn="l">
              <a:lnSpc>
                <a:spcPts val="2850"/>
              </a:lnSpc>
              <a:buNone/>
            </a:pPr>
            <a:r>
              <a:rPr lang="en-US" sz="1750" kern="0" spc="-36" dirty="0" smtClean="0">
                <a:latin typeface="Inter" pitchFamily="34" charset="0"/>
                <a:ea typeface="Inter" pitchFamily="34" charset="-122"/>
              </a:rPr>
              <a:t>ARYAN RAJ 500126035</a:t>
            </a:r>
          </a:p>
          <a:p>
            <a:pPr marL="0" indent="0" algn="l">
              <a:lnSpc>
                <a:spcPts val="2850"/>
              </a:lnSpc>
              <a:buNone/>
            </a:pPr>
            <a:r>
              <a:rPr lang="en-US" sz="1750" kern="0" spc="-36" dirty="0" smtClean="0">
                <a:latin typeface="Inter" pitchFamily="34" charset="0"/>
                <a:ea typeface="Inter" pitchFamily="34" charset="-122"/>
              </a:rPr>
              <a:t>AAYUSH SINGLA 500121157</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4090749"/>
            <a:ext cx="12049601" cy="708779"/>
          </a:xfrm>
          <a:prstGeom prst="rect">
            <a:avLst/>
          </a:prstGeom>
          <a:noFill/>
          <a:ln/>
        </p:spPr>
        <p:txBody>
          <a:bodyPr wrap="non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Key Features of the IPL Ticket Booking System</a:t>
            </a:r>
            <a:endParaRPr lang="en-US" sz="4450" dirty="0"/>
          </a:p>
        </p:txBody>
      </p:sp>
      <p:sp>
        <p:nvSpPr>
          <p:cNvPr id="4" name="Shape 1"/>
          <p:cNvSpPr/>
          <p:nvPr/>
        </p:nvSpPr>
        <p:spPr>
          <a:xfrm>
            <a:off x="793790" y="5394841"/>
            <a:ext cx="510302" cy="510302"/>
          </a:xfrm>
          <a:prstGeom prst="roundRect">
            <a:avLst>
              <a:gd name="adj" fmla="val 18669"/>
            </a:avLst>
          </a:prstGeom>
          <a:solidFill>
            <a:srgbClr val="110080"/>
          </a:solidFill>
          <a:ln w="7620">
            <a:solidFill>
              <a:srgbClr val="2A1999"/>
            </a:solidFill>
            <a:prstDash val="solid"/>
          </a:ln>
        </p:spPr>
      </p:sp>
      <p:pic>
        <p:nvPicPr>
          <p:cNvPr id="5" name="Image 1" descr="preencoded.png"/>
          <p:cNvPicPr>
            <a:picLocks noChangeAspect="1"/>
          </p:cNvPicPr>
          <p:nvPr/>
        </p:nvPicPr>
        <p:blipFill>
          <a:blip r:embed="rId4"/>
          <a:stretch>
            <a:fillRect/>
          </a:stretch>
        </p:blipFill>
        <p:spPr>
          <a:xfrm>
            <a:off x="878860" y="5572006"/>
            <a:ext cx="340162" cy="425291"/>
          </a:xfrm>
          <a:prstGeom prst="rect">
            <a:avLst/>
          </a:prstGeom>
        </p:spPr>
      </p:pic>
      <p:sp>
        <p:nvSpPr>
          <p:cNvPr id="6" name="Text 2"/>
          <p:cNvSpPr/>
          <p:nvPr/>
        </p:nvSpPr>
        <p:spPr>
          <a:xfrm>
            <a:off x="1530906" y="5394841"/>
            <a:ext cx="283523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Real-Time Availability</a:t>
            </a:r>
            <a:endParaRPr lang="en-US" sz="2200" dirty="0"/>
          </a:p>
        </p:txBody>
      </p:sp>
      <p:sp>
        <p:nvSpPr>
          <p:cNvPr id="7" name="Text 3"/>
          <p:cNvSpPr/>
          <p:nvPr/>
        </p:nvSpPr>
        <p:spPr>
          <a:xfrm>
            <a:off x="1530906" y="5885259"/>
            <a:ext cx="3459242" cy="1088708"/>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Integrated stadium seating charts provide real-time ticket availability and seat selection.</a:t>
            </a:r>
            <a:endParaRPr lang="en-US" sz="1750" dirty="0"/>
          </a:p>
        </p:txBody>
      </p:sp>
      <p:sp>
        <p:nvSpPr>
          <p:cNvPr id="8" name="Shape 4"/>
          <p:cNvSpPr/>
          <p:nvPr/>
        </p:nvSpPr>
        <p:spPr>
          <a:xfrm>
            <a:off x="5216962" y="5394841"/>
            <a:ext cx="510302" cy="510302"/>
          </a:xfrm>
          <a:prstGeom prst="roundRect">
            <a:avLst>
              <a:gd name="adj" fmla="val 18669"/>
            </a:avLst>
          </a:prstGeom>
          <a:solidFill>
            <a:srgbClr val="110080"/>
          </a:solidFill>
          <a:ln w="7620">
            <a:solidFill>
              <a:srgbClr val="2A1999"/>
            </a:solidFill>
            <a:prstDash val="solid"/>
          </a:ln>
        </p:spPr>
      </p:sp>
      <p:pic>
        <p:nvPicPr>
          <p:cNvPr id="9" name="Image 2" descr="preencoded.png"/>
          <p:cNvPicPr>
            <a:picLocks noChangeAspect="1"/>
          </p:cNvPicPr>
          <p:nvPr/>
        </p:nvPicPr>
        <p:blipFill>
          <a:blip r:embed="rId5"/>
          <a:stretch>
            <a:fillRect/>
          </a:stretch>
        </p:blipFill>
        <p:spPr>
          <a:xfrm>
            <a:off x="5302032" y="5437346"/>
            <a:ext cx="340162" cy="425291"/>
          </a:xfrm>
          <a:prstGeom prst="rect">
            <a:avLst/>
          </a:prstGeom>
        </p:spPr>
      </p:pic>
      <p:sp>
        <p:nvSpPr>
          <p:cNvPr id="10" name="Text 5"/>
          <p:cNvSpPr/>
          <p:nvPr/>
        </p:nvSpPr>
        <p:spPr>
          <a:xfrm>
            <a:off x="5954078" y="5394841"/>
            <a:ext cx="335339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Secure Payment Gateway</a:t>
            </a:r>
            <a:endParaRPr lang="en-US" sz="2200" dirty="0"/>
          </a:p>
        </p:txBody>
      </p:sp>
      <p:sp>
        <p:nvSpPr>
          <p:cNvPr id="11" name="Text 6"/>
          <p:cNvSpPr/>
          <p:nvPr/>
        </p:nvSpPr>
        <p:spPr>
          <a:xfrm>
            <a:off x="5954078" y="5885259"/>
            <a:ext cx="3459242" cy="1088708"/>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Multiple payment methods are supported, including credit cards, UPI, and net banking.</a:t>
            </a:r>
            <a:endParaRPr lang="en-US" sz="1750" dirty="0"/>
          </a:p>
        </p:txBody>
      </p:sp>
      <p:sp>
        <p:nvSpPr>
          <p:cNvPr id="12" name="Shape 7"/>
          <p:cNvSpPr/>
          <p:nvPr/>
        </p:nvSpPr>
        <p:spPr>
          <a:xfrm>
            <a:off x="9640133" y="5394841"/>
            <a:ext cx="510302" cy="510302"/>
          </a:xfrm>
          <a:prstGeom prst="roundRect">
            <a:avLst>
              <a:gd name="adj" fmla="val 18669"/>
            </a:avLst>
          </a:prstGeom>
          <a:solidFill>
            <a:srgbClr val="110080"/>
          </a:solidFill>
          <a:ln w="7620">
            <a:solidFill>
              <a:srgbClr val="2A1999"/>
            </a:solidFill>
            <a:prstDash val="solid"/>
          </a:ln>
        </p:spPr>
      </p:sp>
      <p:pic>
        <p:nvPicPr>
          <p:cNvPr id="13" name="Image 3" descr="preencoded.png"/>
          <p:cNvPicPr>
            <a:picLocks noChangeAspect="1"/>
          </p:cNvPicPr>
          <p:nvPr/>
        </p:nvPicPr>
        <p:blipFill>
          <a:blip r:embed="rId6"/>
          <a:stretch>
            <a:fillRect/>
          </a:stretch>
        </p:blipFill>
        <p:spPr>
          <a:xfrm>
            <a:off x="9725204" y="5437346"/>
            <a:ext cx="340162" cy="425291"/>
          </a:xfrm>
          <a:prstGeom prst="rect">
            <a:avLst/>
          </a:prstGeom>
        </p:spPr>
      </p:pic>
      <p:sp>
        <p:nvSpPr>
          <p:cNvPr id="14" name="Text 8"/>
          <p:cNvSpPr/>
          <p:nvPr/>
        </p:nvSpPr>
        <p:spPr>
          <a:xfrm>
            <a:off x="10377249" y="5394841"/>
            <a:ext cx="283523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Anti-Fraud Measures</a:t>
            </a:r>
            <a:endParaRPr lang="en-US" sz="2200" dirty="0"/>
          </a:p>
        </p:txBody>
      </p:sp>
      <p:sp>
        <p:nvSpPr>
          <p:cNvPr id="15" name="Text 9"/>
          <p:cNvSpPr/>
          <p:nvPr/>
        </p:nvSpPr>
        <p:spPr>
          <a:xfrm>
            <a:off x="10377249" y="5885259"/>
            <a:ext cx="3459242" cy="1088708"/>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CAPTCHA, device fingerprinting, and purchase limits prevent fraud.</a:t>
            </a:r>
            <a:endParaRPr lang="en-US" sz="1750" dirty="0"/>
          </a:p>
        </p:txBody>
      </p:sp>
      <p:pic>
        <p:nvPicPr>
          <p:cNvPr id="19" name="Picture 18">
            <a:extLst>
              <a:ext uri="{FF2B5EF4-FFF2-40B4-BE49-F238E27FC236}">
                <a16:creationId xmlns:a16="http://schemas.microsoft.com/office/drawing/2014/main" xmlns="" id="{028CB5E3-2680-CCDF-0450-E79FD2AD88D8}"/>
              </a:ext>
            </a:extLst>
          </p:cNvPr>
          <p:cNvPicPr>
            <a:picLocks noChangeAspect="1"/>
          </p:cNvPicPr>
          <p:nvPr/>
        </p:nvPicPr>
        <p:blipFill>
          <a:blip r:embed="rId7"/>
          <a:stretch>
            <a:fillRect/>
          </a:stretch>
        </p:blipFill>
        <p:spPr>
          <a:xfrm>
            <a:off x="6678875" y="3981438"/>
            <a:ext cx="1272650" cy="266723"/>
          </a:xfrm>
          <a:prstGeom prst="rect">
            <a:avLst/>
          </a:prstGeom>
        </p:spPr>
      </p:pic>
      <p:pic>
        <p:nvPicPr>
          <p:cNvPr id="21" name="Picture 20">
            <a:extLst>
              <a:ext uri="{FF2B5EF4-FFF2-40B4-BE49-F238E27FC236}">
                <a16:creationId xmlns:a16="http://schemas.microsoft.com/office/drawing/2014/main" xmlns="" id="{F021A0F8-5CE2-EF3E-9CEF-3DC10841CE79}"/>
              </a:ext>
            </a:extLst>
          </p:cNvPr>
          <p:cNvPicPr>
            <a:picLocks noChangeAspect="1"/>
          </p:cNvPicPr>
          <p:nvPr/>
        </p:nvPicPr>
        <p:blipFill>
          <a:blip r:embed="rId7"/>
          <a:stretch>
            <a:fillRect/>
          </a:stretch>
        </p:blipFill>
        <p:spPr>
          <a:xfrm>
            <a:off x="12129656" y="7705492"/>
            <a:ext cx="2500744" cy="5241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59473" y="953453"/>
            <a:ext cx="7426166" cy="690205"/>
          </a:xfrm>
          <a:prstGeom prst="rect">
            <a:avLst/>
          </a:prstGeom>
          <a:noFill/>
          <a:ln/>
        </p:spPr>
        <p:txBody>
          <a:bodyPr wrap="none" lIns="0" tIns="0" rIns="0" bIns="0" rtlCol="0" anchor="t"/>
          <a:lstStyle/>
          <a:p>
            <a:pPr marL="0" indent="0" algn="l">
              <a:lnSpc>
                <a:spcPts val="5400"/>
              </a:lnSpc>
              <a:buNone/>
            </a:pPr>
            <a:r>
              <a:rPr lang="en-US" sz="4300" b="1" kern="0" spc="-130" dirty="0">
                <a:latin typeface="Inter Bold" pitchFamily="34" charset="0"/>
                <a:ea typeface="Inter Bold" pitchFamily="34" charset="-122"/>
                <a:cs typeface="Inter Bold" pitchFamily="34" charset="-120"/>
              </a:rPr>
              <a:t>A Seamless Booking Journey</a:t>
            </a:r>
            <a:endParaRPr lang="en-US" sz="4300" dirty="0"/>
          </a:p>
        </p:txBody>
      </p:sp>
      <p:pic>
        <p:nvPicPr>
          <p:cNvPr id="4" name="Image 1" descr="preencoded.png"/>
          <p:cNvPicPr>
            <a:picLocks noChangeAspect="1"/>
          </p:cNvPicPr>
          <p:nvPr/>
        </p:nvPicPr>
        <p:blipFill>
          <a:blip r:embed="rId4"/>
          <a:stretch>
            <a:fillRect/>
          </a:stretch>
        </p:blipFill>
        <p:spPr>
          <a:xfrm>
            <a:off x="6259473" y="1974890"/>
            <a:ext cx="1104424" cy="1325285"/>
          </a:xfrm>
          <a:prstGeom prst="rect">
            <a:avLst/>
          </a:prstGeom>
        </p:spPr>
      </p:pic>
      <p:sp>
        <p:nvSpPr>
          <p:cNvPr id="5" name="Text 1"/>
          <p:cNvSpPr/>
          <p:nvPr/>
        </p:nvSpPr>
        <p:spPr>
          <a:xfrm>
            <a:off x="7695128" y="2195751"/>
            <a:ext cx="3142417" cy="345043"/>
          </a:xfrm>
          <a:prstGeom prst="rect">
            <a:avLst/>
          </a:prstGeom>
          <a:noFill/>
          <a:ln/>
        </p:spPr>
        <p:txBody>
          <a:bodyPr wrap="none" lIns="0" tIns="0" rIns="0" bIns="0" rtlCol="0" anchor="t"/>
          <a:lstStyle/>
          <a:p>
            <a:pPr marL="0" indent="0" algn="l">
              <a:lnSpc>
                <a:spcPts val="2700"/>
              </a:lnSpc>
              <a:buNone/>
            </a:pPr>
            <a:r>
              <a:rPr lang="en-US" sz="2150" b="1" kern="0" spc="-65" dirty="0">
                <a:latin typeface="Inter Bold" pitchFamily="34" charset="0"/>
                <a:ea typeface="Inter Bold" pitchFamily="34" charset="-122"/>
                <a:cs typeface="Inter Bold" pitchFamily="34" charset="-120"/>
              </a:rPr>
              <a:t>Select Match &amp; Category</a:t>
            </a:r>
            <a:endParaRPr lang="en-US" sz="2150" dirty="0"/>
          </a:p>
        </p:txBody>
      </p:sp>
      <p:sp>
        <p:nvSpPr>
          <p:cNvPr id="6" name="Text 2"/>
          <p:cNvSpPr/>
          <p:nvPr/>
        </p:nvSpPr>
        <p:spPr>
          <a:xfrm>
            <a:off x="7695128" y="2673310"/>
            <a:ext cx="6162199" cy="353378"/>
          </a:xfrm>
          <a:prstGeom prst="rect">
            <a:avLst/>
          </a:prstGeom>
          <a:noFill/>
          <a:ln/>
        </p:spPr>
        <p:txBody>
          <a:bodyPr wrap="none" lIns="0" tIns="0" rIns="0" bIns="0" rtlCol="0" anchor="t"/>
          <a:lstStyle/>
          <a:p>
            <a:pPr marL="0" indent="0" algn="l">
              <a:lnSpc>
                <a:spcPts val="2750"/>
              </a:lnSpc>
              <a:buNone/>
            </a:pPr>
            <a:r>
              <a:rPr lang="en-US" sz="1700" kern="0" spc="-35" dirty="0">
                <a:latin typeface="Inter" pitchFamily="34" charset="0"/>
                <a:ea typeface="Inter" pitchFamily="34" charset="-122"/>
                <a:cs typeface="Inter" pitchFamily="34" charset="-120"/>
              </a:rPr>
              <a:t>Choose the match and preferred seating category.</a:t>
            </a:r>
            <a:endParaRPr lang="en-US" sz="1700" dirty="0"/>
          </a:p>
        </p:txBody>
      </p:sp>
      <p:pic>
        <p:nvPicPr>
          <p:cNvPr id="7" name="Image 2" descr="preencoded.png"/>
          <p:cNvPicPr>
            <a:picLocks noChangeAspect="1"/>
          </p:cNvPicPr>
          <p:nvPr/>
        </p:nvPicPr>
        <p:blipFill>
          <a:blip r:embed="rId5"/>
          <a:stretch>
            <a:fillRect/>
          </a:stretch>
        </p:blipFill>
        <p:spPr>
          <a:xfrm>
            <a:off x="6259473" y="3300174"/>
            <a:ext cx="1104424" cy="1325285"/>
          </a:xfrm>
          <a:prstGeom prst="rect">
            <a:avLst/>
          </a:prstGeom>
        </p:spPr>
      </p:pic>
      <p:sp>
        <p:nvSpPr>
          <p:cNvPr id="8" name="Text 3"/>
          <p:cNvSpPr/>
          <p:nvPr/>
        </p:nvSpPr>
        <p:spPr>
          <a:xfrm>
            <a:off x="7695128" y="3521035"/>
            <a:ext cx="2761178" cy="345043"/>
          </a:xfrm>
          <a:prstGeom prst="rect">
            <a:avLst/>
          </a:prstGeom>
          <a:noFill/>
          <a:ln/>
        </p:spPr>
        <p:txBody>
          <a:bodyPr wrap="none" lIns="0" tIns="0" rIns="0" bIns="0" rtlCol="0" anchor="t"/>
          <a:lstStyle/>
          <a:p>
            <a:pPr marL="0" indent="0" algn="l">
              <a:lnSpc>
                <a:spcPts val="2700"/>
              </a:lnSpc>
              <a:buNone/>
            </a:pPr>
            <a:r>
              <a:rPr lang="en-US" sz="2150" b="1" kern="0" spc="-65" dirty="0">
                <a:latin typeface="Inter Bold" pitchFamily="34" charset="0"/>
                <a:ea typeface="Inter Bold" pitchFamily="34" charset="-122"/>
                <a:cs typeface="Inter Bold" pitchFamily="34" charset="-120"/>
              </a:rPr>
              <a:t>View &amp; Choose Seats</a:t>
            </a:r>
            <a:endParaRPr lang="en-US" sz="2150" dirty="0"/>
          </a:p>
        </p:txBody>
      </p:sp>
      <p:sp>
        <p:nvSpPr>
          <p:cNvPr id="9" name="Text 4"/>
          <p:cNvSpPr/>
          <p:nvPr/>
        </p:nvSpPr>
        <p:spPr>
          <a:xfrm>
            <a:off x="7695128" y="3998595"/>
            <a:ext cx="6162199" cy="353378"/>
          </a:xfrm>
          <a:prstGeom prst="rect">
            <a:avLst/>
          </a:prstGeom>
          <a:noFill/>
          <a:ln/>
        </p:spPr>
        <p:txBody>
          <a:bodyPr wrap="none" lIns="0" tIns="0" rIns="0" bIns="0" rtlCol="0" anchor="t"/>
          <a:lstStyle/>
          <a:p>
            <a:pPr marL="0" indent="0" algn="l">
              <a:lnSpc>
                <a:spcPts val="2750"/>
              </a:lnSpc>
              <a:buNone/>
            </a:pPr>
            <a:r>
              <a:rPr lang="en-US" sz="1700" kern="0" spc="-35" dirty="0">
                <a:latin typeface="Inter" pitchFamily="34" charset="0"/>
                <a:ea typeface="Inter" pitchFamily="34" charset="-122"/>
                <a:cs typeface="Inter" pitchFamily="34" charset="-120"/>
              </a:rPr>
              <a:t>See available seats in real-time and select specific seats.</a:t>
            </a:r>
            <a:endParaRPr lang="en-US" sz="1700" dirty="0"/>
          </a:p>
        </p:txBody>
      </p:sp>
      <p:pic>
        <p:nvPicPr>
          <p:cNvPr id="10" name="Image 3" descr="preencoded.png"/>
          <p:cNvPicPr>
            <a:picLocks noChangeAspect="1"/>
          </p:cNvPicPr>
          <p:nvPr/>
        </p:nvPicPr>
        <p:blipFill>
          <a:blip r:embed="rId6"/>
          <a:stretch>
            <a:fillRect/>
          </a:stretch>
        </p:blipFill>
        <p:spPr>
          <a:xfrm>
            <a:off x="6259473" y="4625459"/>
            <a:ext cx="1104424" cy="1325285"/>
          </a:xfrm>
          <a:prstGeom prst="rect">
            <a:avLst/>
          </a:prstGeom>
        </p:spPr>
      </p:pic>
      <p:sp>
        <p:nvSpPr>
          <p:cNvPr id="11" name="Text 5"/>
          <p:cNvSpPr/>
          <p:nvPr/>
        </p:nvSpPr>
        <p:spPr>
          <a:xfrm>
            <a:off x="7695128" y="4846320"/>
            <a:ext cx="2761178" cy="345043"/>
          </a:xfrm>
          <a:prstGeom prst="rect">
            <a:avLst/>
          </a:prstGeom>
          <a:noFill/>
          <a:ln/>
        </p:spPr>
        <p:txBody>
          <a:bodyPr wrap="none" lIns="0" tIns="0" rIns="0" bIns="0" rtlCol="0" anchor="t"/>
          <a:lstStyle/>
          <a:p>
            <a:pPr marL="0" indent="0" algn="l">
              <a:lnSpc>
                <a:spcPts val="2700"/>
              </a:lnSpc>
              <a:buNone/>
            </a:pPr>
            <a:r>
              <a:rPr lang="en-US" sz="2150" b="1" kern="0" spc="-65" dirty="0">
                <a:latin typeface="Inter Bold" pitchFamily="34" charset="0"/>
                <a:ea typeface="Inter Bold" pitchFamily="34" charset="-122"/>
                <a:cs typeface="Inter Bold" pitchFamily="34" charset="-120"/>
              </a:rPr>
              <a:t>Complete Payment</a:t>
            </a:r>
            <a:endParaRPr lang="en-US" sz="2150" dirty="0"/>
          </a:p>
        </p:txBody>
      </p:sp>
      <p:sp>
        <p:nvSpPr>
          <p:cNvPr id="12" name="Text 6"/>
          <p:cNvSpPr/>
          <p:nvPr/>
        </p:nvSpPr>
        <p:spPr>
          <a:xfrm>
            <a:off x="7695128" y="5323880"/>
            <a:ext cx="6162199" cy="353378"/>
          </a:xfrm>
          <a:prstGeom prst="rect">
            <a:avLst/>
          </a:prstGeom>
          <a:noFill/>
          <a:ln/>
        </p:spPr>
        <p:txBody>
          <a:bodyPr wrap="none" lIns="0" tIns="0" rIns="0" bIns="0" rtlCol="0" anchor="t"/>
          <a:lstStyle/>
          <a:p>
            <a:pPr marL="0" indent="0" algn="l">
              <a:lnSpc>
                <a:spcPts val="2750"/>
              </a:lnSpc>
              <a:buNone/>
            </a:pPr>
            <a:r>
              <a:rPr lang="en-US" sz="1700" kern="0" spc="-35" dirty="0">
                <a:latin typeface="Inter" pitchFamily="34" charset="0"/>
                <a:ea typeface="Inter" pitchFamily="34" charset="-122"/>
                <a:cs typeface="Inter" pitchFamily="34" charset="-120"/>
              </a:rPr>
              <a:t>Pay securely through a trusted gateway.</a:t>
            </a:r>
            <a:endParaRPr lang="en-US" sz="1700" dirty="0"/>
          </a:p>
        </p:txBody>
      </p:sp>
      <p:pic>
        <p:nvPicPr>
          <p:cNvPr id="13" name="Image 4" descr="preencoded.png"/>
          <p:cNvPicPr>
            <a:picLocks noChangeAspect="1"/>
          </p:cNvPicPr>
          <p:nvPr/>
        </p:nvPicPr>
        <p:blipFill>
          <a:blip r:embed="rId7"/>
          <a:stretch>
            <a:fillRect/>
          </a:stretch>
        </p:blipFill>
        <p:spPr>
          <a:xfrm>
            <a:off x="6259473" y="5950744"/>
            <a:ext cx="1104424" cy="1325285"/>
          </a:xfrm>
          <a:prstGeom prst="rect">
            <a:avLst/>
          </a:prstGeom>
        </p:spPr>
      </p:pic>
      <p:sp>
        <p:nvSpPr>
          <p:cNvPr id="14" name="Text 7"/>
          <p:cNvSpPr/>
          <p:nvPr/>
        </p:nvSpPr>
        <p:spPr>
          <a:xfrm>
            <a:off x="7695128" y="6171605"/>
            <a:ext cx="2761178" cy="345043"/>
          </a:xfrm>
          <a:prstGeom prst="rect">
            <a:avLst/>
          </a:prstGeom>
          <a:noFill/>
          <a:ln/>
        </p:spPr>
        <p:txBody>
          <a:bodyPr wrap="none" lIns="0" tIns="0" rIns="0" bIns="0" rtlCol="0" anchor="t"/>
          <a:lstStyle/>
          <a:p>
            <a:pPr marL="0" indent="0" algn="l">
              <a:lnSpc>
                <a:spcPts val="2700"/>
              </a:lnSpc>
              <a:buNone/>
            </a:pPr>
            <a:r>
              <a:rPr lang="en-US" sz="2150" b="1" kern="0" spc="-65" dirty="0">
                <a:latin typeface="Inter Bold" pitchFamily="34" charset="0"/>
                <a:ea typeface="Inter Bold" pitchFamily="34" charset="-122"/>
                <a:cs typeface="Inter Bold" pitchFamily="34" charset="-120"/>
              </a:rPr>
              <a:t>Receive Confirmation</a:t>
            </a:r>
            <a:endParaRPr lang="en-US" sz="2150" dirty="0"/>
          </a:p>
        </p:txBody>
      </p:sp>
      <p:sp>
        <p:nvSpPr>
          <p:cNvPr id="15" name="Text 8"/>
          <p:cNvSpPr/>
          <p:nvPr/>
        </p:nvSpPr>
        <p:spPr>
          <a:xfrm>
            <a:off x="7695128" y="6649164"/>
            <a:ext cx="6162199" cy="353378"/>
          </a:xfrm>
          <a:prstGeom prst="rect">
            <a:avLst/>
          </a:prstGeom>
          <a:noFill/>
          <a:ln/>
        </p:spPr>
        <p:txBody>
          <a:bodyPr wrap="none" lIns="0" tIns="0" rIns="0" bIns="0" rtlCol="0" anchor="t"/>
          <a:lstStyle/>
          <a:p>
            <a:pPr marL="0" indent="0" algn="l">
              <a:lnSpc>
                <a:spcPts val="2750"/>
              </a:lnSpc>
              <a:buNone/>
            </a:pPr>
            <a:r>
              <a:rPr lang="en-US" sz="1700" kern="0" spc="-35" dirty="0">
                <a:latin typeface="Inter" pitchFamily="34" charset="0"/>
                <a:ea typeface="Inter" pitchFamily="34" charset="-122"/>
                <a:cs typeface="Inter" pitchFamily="34" charset="-120"/>
              </a:rPr>
              <a:t>Get instant confirmation and e-ticket delivery.</a:t>
            </a:r>
            <a:endParaRPr lang="en-US" sz="1700" dirty="0"/>
          </a:p>
        </p:txBody>
      </p:sp>
      <p:pic>
        <p:nvPicPr>
          <p:cNvPr id="17" name="Picture 16">
            <a:extLst>
              <a:ext uri="{FF2B5EF4-FFF2-40B4-BE49-F238E27FC236}">
                <a16:creationId xmlns:a16="http://schemas.microsoft.com/office/drawing/2014/main" xmlns="" id="{1112324A-E560-EA61-3C6A-FDE58FE5E425}"/>
              </a:ext>
            </a:extLst>
          </p:cNvPr>
          <p:cNvPicPr>
            <a:picLocks noChangeAspect="1"/>
          </p:cNvPicPr>
          <p:nvPr/>
        </p:nvPicPr>
        <p:blipFill>
          <a:blip r:embed="rId8"/>
          <a:stretch>
            <a:fillRect/>
          </a:stretch>
        </p:blipFill>
        <p:spPr>
          <a:xfrm>
            <a:off x="12198727" y="7707725"/>
            <a:ext cx="2331311" cy="48859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2551111"/>
            <a:ext cx="8103632" cy="708779"/>
          </a:xfrm>
          <a:prstGeom prst="rect">
            <a:avLst/>
          </a:prstGeom>
          <a:noFill/>
          <a:ln/>
        </p:spPr>
        <p:txBody>
          <a:bodyPr wrap="non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Technology Behind the System</a:t>
            </a:r>
            <a:endParaRPr lang="en-US" sz="4450" dirty="0"/>
          </a:p>
        </p:txBody>
      </p:sp>
      <p:sp>
        <p:nvSpPr>
          <p:cNvPr id="3" name="Text 1"/>
          <p:cNvSpPr/>
          <p:nvPr/>
        </p:nvSpPr>
        <p:spPr>
          <a:xfrm>
            <a:off x="793790" y="3826866"/>
            <a:ext cx="2845594" cy="708660"/>
          </a:xfrm>
          <a:prstGeom prst="rect">
            <a:avLst/>
          </a:prstGeom>
          <a:noFill/>
          <a:ln/>
        </p:spPr>
        <p:txBody>
          <a:bodyPr wrap="squar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Scalable Infrastructure</a:t>
            </a:r>
            <a:endParaRPr lang="en-US" sz="2200" dirty="0"/>
          </a:p>
        </p:txBody>
      </p:sp>
      <p:sp>
        <p:nvSpPr>
          <p:cNvPr id="4" name="Text 2"/>
          <p:cNvSpPr/>
          <p:nvPr/>
        </p:nvSpPr>
        <p:spPr>
          <a:xfrm>
            <a:off x="793790" y="4762340"/>
            <a:ext cx="2845594" cy="725805"/>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Cloud infrastructure (AWS, Azure) handles peak traffic.</a:t>
            </a:r>
            <a:endParaRPr lang="en-US" sz="1750" dirty="0"/>
          </a:p>
        </p:txBody>
      </p:sp>
      <p:sp>
        <p:nvSpPr>
          <p:cNvPr id="5" name="Text 3"/>
          <p:cNvSpPr/>
          <p:nvPr/>
        </p:nvSpPr>
        <p:spPr>
          <a:xfrm>
            <a:off x="4200406" y="3826866"/>
            <a:ext cx="283523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Robust Database</a:t>
            </a:r>
            <a:endParaRPr lang="en-US" sz="2200" dirty="0"/>
          </a:p>
        </p:txBody>
      </p:sp>
      <p:sp>
        <p:nvSpPr>
          <p:cNvPr id="6" name="Text 4"/>
          <p:cNvSpPr/>
          <p:nvPr/>
        </p:nvSpPr>
        <p:spPr>
          <a:xfrm>
            <a:off x="4200406" y="4408010"/>
            <a:ext cx="2845594" cy="725805"/>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MySQL or PostgreSQL stores ticket and user data.</a:t>
            </a:r>
            <a:endParaRPr lang="en-US" sz="1750" dirty="0"/>
          </a:p>
        </p:txBody>
      </p:sp>
      <p:sp>
        <p:nvSpPr>
          <p:cNvPr id="7" name="Text 5"/>
          <p:cNvSpPr/>
          <p:nvPr/>
        </p:nvSpPr>
        <p:spPr>
          <a:xfrm>
            <a:off x="7607022" y="3826866"/>
            <a:ext cx="283523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Secure APIs</a:t>
            </a:r>
            <a:endParaRPr lang="en-US" sz="2200" dirty="0"/>
          </a:p>
        </p:txBody>
      </p:sp>
      <p:sp>
        <p:nvSpPr>
          <p:cNvPr id="8" name="Text 6"/>
          <p:cNvSpPr/>
          <p:nvPr/>
        </p:nvSpPr>
        <p:spPr>
          <a:xfrm>
            <a:off x="7607022" y="4408010"/>
            <a:ext cx="2845594" cy="1088708"/>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Integrations with payment gateways and stadium access control.</a:t>
            </a:r>
            <a:endParaRPr lang="en-US" sz="1750" dirty="0"/>
          </a:p>
        </p:txBody>
      </p:sp>
      <p:sp>
        <p:nvSpPr>
          <p:cNvPr id="9" name="Text 7"/>
          <p:cNvSpPr/>
          <p:nvPr/>
        </p:nvSpPr>
        <p:spPr>
          <a:xfrm>
            <a:off x="11013638" y="3826866"/>
            <a:ext cx="2835235"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Real-time Analytics</a:t>
            </a:r>
            <a:endParaRPr lang="en-US" sz="2200" dirty="0"/>
          </a:p>
        </p:txBody>
      </p:sp>
      <p:sp>
        <p:nvSpPr>
          <p:cNvPr id="10" name="Text 8"/>
          <p:cNvSpPr/>
          <p:nvPr/>
        </p:nvSpPr>
        <p:spPr>
          <a:xfrm>
            <a:off x="11013638" y="4408010"/>
            <a:ext cx="2845594" cy="725805"/>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Dashboard monitors sales, behavior, and performance.</a:t>
            </a:r>
            <a:endParaRPr lang="en-US" sz="1750" dirty="0"/>
          </a:p>
        </p:txBody>
      </p:sp>
      <p:pic>
        <p:nvPicPr>
          <p:cNvPr id="12" name="Picture 11">
            <a:extLst>
              <a:ext uri="{FF2B5EF4-FFF2-40B4-BE49-F238E27FC236}">
                <a16:creationId xmlns:a16="http://schemas.microsoft.com/office/drawing/2014/main" xmlns="" id="{13B22D50-9B99-50E1-19A7-B5D0AD68D918}"/>
              </a:ext>
            </a:extLst>
          </p:cNvPr>
          <p:cNvPicPr>
            <a:picLocks noChangeAspect="1"/>
          </p:cNvPicPr>
          <p:nvPr/>
        </p:nvPicPr>
        <p:blipFill>
          <a:blip r:embed="rId3"/>
          <a:stretch>
            <a:fillRect/>
          </a:stretch>
        </p:blipFill>
        <p:spPr>
          <a:xfrm>
            <a:off x="12332542" y="7719519"/>
            <a:ext cx="2218547" cy="4649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26294" y="1832610"/>
            <a:ext cx="9269968" cy="708779"/>
          </a:xfrm>
          <a:prstGeom prst="rect">
            <a:avLst/>
          </a:prstGeom>
          <a:noFill/>
          <a:ln/>
        </p:spPr>
        <p:txBody>
          <a:bodyPr wrap="non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Security Measures: Protecting Fans</a:t>
            </a:r>
            <a:endParaRPr lang="en-US" sz="4450" dirty="0"/>
          </a:p>
        </p:txBody>
      </p:sp>
      <p:pic>
        <p:nvPicPr>
          <p:cNvPr id="3" name="Image 0" descr="preencoded.png"/>
          <p:cNvPicPr>
            <a:picLocks noChangeAspect="1"/>
          </p:cNvPicPr>
          <p:nvPr/>
        </p:nvPicPr>
        <p:blipFill>
          <a:blip r:embed="rId3"/>
          <a:stretch>
            <a:fillRect/>
          </a:stretch>
        </p:blipFill>
        <p:spPr>
          <a:xfrm>
            <a:off x="3247430" y="2949357"/>
            <a:ext cx="1614011" cy="807958"/>
          </a:xfrm>
          <a:prstGeom prst="rect">
            <a:avLst/>
          </a:prstGeom>
        </p:spPr>
      </p:pic>
      <p:pic>
        <p:nvPicPr>
          <p:cNvPr id="4" name="Image 1" descr="preencoded.png"/>
          <p:cNvPicPr>
            <a:picLocks noChangeAspect="1"/>
          </p:cNvPicPr>
          <p:nvPr/>
        </p:nvPicPr>
        <p:blipFill>
          <a:blip r:embed="rId4"/>
          <a:stretch>
            <a:fillRect/>
          </a:stretch>
        </p:blipFill>
        <p:spPr>
          <a:xfrm>
            <a:off x="3894892" y="3286839"/>
            <a:ext cx="318968" cy="398621"/>
          </a:xfrm>
          <a:prstGeom prst="rect">
            <a:avLst/>
          </a:prstGeom>
        </p:spPr>
      </p:pic>
      <p:sp>
        <p:nvSpPr>
          <p:cNvPr id="5" name="Text 1"/>
          <p:cNvSpPr/>
          <p:nvPr/>
        </p:nvSpPr>
        <p:spPr>
          <a:xfrm>
            <a:off x="5088255" y="3221831"/>
            <a:ext cx="2747724"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Real-time Monitoring</a:t>
            </a:r>
            <a:endParaRPr lang="en-US" sz="2200" dirty="0"/>
          </a:p>
        </p:txBody>
      </p:sp>
      <p:sp>
        <p:nvSpPr>
          <p:cNvPr id="6" name="Shape 2"/>
          <p:cNvSpPr/>
          <p:nvPr/>
        </p:nvSpPr>
        <p:spPr>
          <a:xfrm>
            <a:off x="4918115" y="3816072"/>
            <a:ext cx="8861822" cy="15240"/>
          </a:xfrm>
          <a:prstGeom prst="roundRect">
            <a:avLst>
              <a:gd name="adj" fmla="val 625116"/>
            </a:avLst>
          </a:prstGeom>
          <a:solidFill>
            <a:srgbClr val="2A1999"/>
          </a:solidFill>
          <a:ln/>
        </p:spPr>
      </p:sp>
      <p:pic>
        <p:nvPicPr>
          <p:cNvPr id="7" name="Image 2" descr="preencoded.png"/>
          <p:cNvPicPr>
            <a:picLocks noChangeAspect="1"/>
          </p:cNvPicPr>
          <p:nvPr/>
        </p:nvPicPr>
        <p:blipFill>
          <a:blip r:embed="rId5"/>
          <a:stretch>
            <a:fillRect/>
          </a:stretch>
        </p:blipFill>
        <p:spPr>
          <a:xfrm>
            <a:off x="2440424" y="3859649"/>
            <a:ext cx="3228022" cy="807958"/>
          </a:xfrm>
          <a:prstGeom prst="rect">
            <a:avLst/>
          </a:prstGeom>
        </p:spPr>
      </p:pic>
      <p:pic>
        <p:nvPicPr>
          <p:cNvPr id="8" name="Image 3" descr="preencoded.png"/>
          <p:cNvPicPr>
            <a:picLocks noChangeAspect="1"/>
          </p:cNvPicPr>
          <p:nvPr/>
        </p:nvPicPr>
        <p:blipFill>
          <a:blip r:embed="rId6"/>
          <a:stretch>
            <a:fillRect/>
          </a:stretch>
        </p:blipFill>
        <p:spPr>
          <a:xfrm>
            <a:off x="3894892" y="4064318"/>
            <a:ext cx="318968" cy="398621"/>
          </a:xfrm>
          <a:prstGeom prst="rect">
            <a:avLst/>
          </a:prstGeom>
        </p:spPr>
      </p:pic>
      <p:sp>
        <p:nvSpPr>
          <p:cNvPr id="9" name="Text 3"/>
          <p:cNvSpPr/>
          <p:nvPr/>
        </p:nvSpPr>
        <p:spPr>
          <a:xfrm>
            <a:off x="5895261" y="4086463"/>
            <a:ext cx="2076093"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Purchase Limits</a:t>
            </a:r>
            <a:endParaRPr lang="en-US" sz="2200" dirty="0"/>
          </a:p>
        </p:txBody>
      </p:sp>
      <p:sp>
        <p:nvSpPr>
          <p:cNvPr id="10" name="Shape 4"/>
          <p:cNvSpPr/>
          <p:nvPr/>
        </p:nvSpPr>
        <p:spPr>
          <a:xfrm>
            <a:off x="5725120" y="4680704"/>
            <a:ext cx="8054816" cy="15240"/>
          </a:xfrm>
          <a:prstGeom prst="roundRect">
            <a:avLst>
              <a:gd name="adj" fmla="val 625116"/>
            </a:avLst>
          </a:prstGeom>
          <a:solidFill>
            <a:srgbClr val="2A1999"/>
          </a:solidFill>
          <a:ln/>
        </p:spPr>
      </p:sp>
      <p:pic>
        <p:nvPicPr>
          <p:cNvPr id="11" name="Image 4" descr="preencoded.png"/>
          <p:cNvPicPr>
            <a:picLocks noChangeAspect="1"/>
          </p:cNvPicPr>
          <p:nvPr/>
        </p:nvPicPr>
        <p:blipFill>
          <a:blip r:embed="rId7"/>
          <a:stretch>
            <a:fillRect/>
          </a:stretch>
        </p:blipFill>
        <p:spPr>
          <a:xfrm>
            <a:off x="1633418" y="4724281"/>
            <a:ext cx="4842034" cy="807958"/>
          </a:xfrm>
          <a:prstGeom prst="rect">
            <a:avLst/>
          </a:prstGeom>
        </p:spPr>
      </p:pic>
      <p:pic>
        <p:nvPicPr>
          <p:cNvPr id="12" name="Image 5" descr="preencoded.png"/>
          <p:cNvPicPr>
            <a:picLocks noChangeAspect="1"/>
          </p:cNvPicPr>
          <p:nvPr/>
        </p:nvPicPr>
        <p:blipFill>
          <a:blip r:embed="rId8"/>
          <a:stretch>
            <a:fillRect/>
          </a:stretch>
        </p:blipFill>
        <p:spPr>
          <a:xfrm>
            <a:off x="3894892" y="4928949"/>
            <a:ext cx="318968" cy="398621"/>
          </a:xfrm>
          <a:prstGeom prst="rect">
            <a:avLst/>
          </a:prstGeom>
        </p:spPr>
      </p:pic>
      <p:sp>
        <p:nvSpPr>
          <p:cNvPr id="13" name="Text 5"/>
          <p:cNvSpPr/>
          <p:nvPr/>
        </p:nvSpPr>
        <p:spPr>
          <a:xfrm>
            <a:off x="6702266" y="4951095"/>
            <a:ext cx="1762363"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Bot Detection</a:t>
            </a:r>
            <a:endParaRPr lang="en-US" sz="2200" dirty="0"/>
          </a:p>
        </p:txBody>
      </p:sp>
      <p:sp>
        <p:nvSpPr>
          <p:cNvPr id="14" name="Shape 6"/>
          <p:cNvSpPr/>
          <p:nvPr/>
        </p:nvSpPr>
        <p:spPr>
          <a:xfrm>
            <a:off x="6532126" y="5545336"/>
            <a:ext cx="7247811" cy="15240"/>
          </a:xfrm>
          <a:prstGeom prst="roundRect">
            <a:avLst>
              <a:gd name="adj" fmla="val 625116"/>
            </a:avLst>
          </a:prstGeom>
          <a:solidFill>
            <a:srgbClr val="2A1999"/>
          </a:solidFill>
          <a:ln/>
        </p:spPr>
      </p:sp>
      <p:pic>
        <p:nvPicPr>
          <p:cNvPr id="15" name="Image 6" descr="preencoded.png"/>
          <p:cNvPicPr>
            <a:picLocks noChangeAspect="1"/>
          </p:cNvPicPr>
          <p:nvPr/>
        </p:nvPicPr>
        <p:blipFill>
          <a:blip r:embed="rId9"/>
          <a:stretch>
            <a:fillRect/>
          </a:stretch>
        </p:blipFill>
        <p:spPr>
          <a:xfrm>
            <a:off x="826294" y="5588913"/>
            <a:ext cx="6456164" cy="807958"/>
          </a:xfrm>
          <a:prstGeom prst="rect">
            <a:avLst/>
          </a:prstGeom>
        </p:spPr>
      </p:pic>
      <p:pic>
        <p:nvPicPr>
          <p:cNvPr id="16" name="Image 7" descr="preencoded.png"/>
          <p:cNvPicPr>
            <a:picLocks noChangeAspect="1"/>
          </p:cNvPicPr>
          <p:nvPr/>
        </p:nvPicPr>
        <p:blipFill>
          <a:blip r:embed="rId10"/>
          <a:stretch>
            <a:fillRect/>
          </a:stretch>
        </p:blipFill>
        <p:spPr>
          <a:xfrm>
            <a:off x="3894773" y="5793581"/>
            <a:ext cx="318968" cy="398621"/>
          </a:xfrm>
          <a:prstGeom prst="rect">
            <a:avLst/>
          </a:prstGeom>
        </p:spPr>
      </p:pic>
      <p:sp>
        <p:nvSpPr>
          <p:cNvPr id="17" name="Text 7"/>
          <p:cNvSpPr/>
          <p:nvPr/>
        </p:nvSpPr>
        <p:spPr>
          <a:xfrm>
            <a:off x="7509272" y="5815727"/>
            <a:ext cx="2093476"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Data Encryption</a:t>
            </a:r>
            <a:endParaRPr lang="en-US" sz="2200" dirty="0"/>
          </a:p>
        </p:txBody>
      </p:sp>
      <p:pic>
        <p:nvPicPr>
          <p:cNvPr id="19" name="Picture 18">
            <a:extLst>
              <a:ext uri="{FF2B5EF4-FFF2-40B4-BE49-F238E27FC236}">
                <a16:creationId xmlns:a16="http://schemas.microsoft.com/office/drawing/2014/main" xmlns="" id="{DAD1885A-6AFE-3217-574A-74194EBF8260}"/>
              </a:ext>
            </a:extLst>
          </p:cNvPr>
          <p:cNvPicPr>
            <a:picLocks noChangeAspect="1"/>
          </p:cNvPicPr>
          <p:nvPr/>
        </p:nvPicPr>
        <p:blipFill>
          <a:blip r:embed="rId11"/>
          <a:stretch>
            <a:fillRect/>
          </a:stretch>
        </p:blipFill>
        <p:spPr>
          <a:xfrm>
            <a:off x="12287938" y="7728247"/>
            <a:ext cx="2253252" cy="4722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2403872"/>
            <a:ext cx="7105174" cy="708779"/>
          </a:xfrm>
          <a:prstGeom prst="rect">
            <a:avLst/>
          </a:prstGeom>
          <a:noFill/>
          <a:ln/>
        </p:spPr>
        <p:txBody>
          <a:bodyPr wrap="non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Data Analytics and Insights</a:t>
            </a:r>
            <a:endParaRPr lang="en-US" sz="4450" dirty="0"/>
          </a:p>
        </p:txBody>
      </p:sp>
      <p:pic>
        <p:nvPicPr>
          <p:cNvPr id="4" name="Image 1" descr="preencoded.png"/>
          <p:cNvPicPr>
            <a:picLocks noChangeAspect="1"/>
          </p:cNvPicPr>
          <p:nvPr/>
        </p:nvPicPr>
        <p:blipFill>
          <a:blip r:embed="rId4"/>
          <a:stretch>
            <a:fillRect/>
          </a:stretch>
        </p:blipFill>
        <p:spPr>
          <a:xfrm>
            <a:off x="6280190" y="3452813"/>
            <a:ext cx="566976" cy="566976"/>
          </a:xfrm>
          <a:prstGeom prst="rect">
            <a:avLst/>
          </a:prstGeom>
        </p:spPr>
      </p:pic>
      <p:sp>
        <p:nvSpPr>
          <p:cNvPr id="5" name="Text 1"/>
          <p:cNvSpPr/>
          <p:nvPr/>
        </p:nvSpPr>
        <p:spPr>
          <a:xfrm>
            <a:off x="6280190" y="4246602"/>
            <a:ext cx="2291953"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Sales Trends</a:t>
            </a:r>
            <a:endParaRPr lang="en-US" sz="2200" dirty="0"/>
          </a:p>
        </p:txBody>
      </p:sp>
      <p:sp>
        <p:nvSpPr>
          <p:cNvPr id="6" name="Text 2"/>
          <p:cNvSpPr/>
          <p:nvPr/>
        </p:nvSpPr>
        <p:spPr>
          <a:xfrm>
            <a:off x="6280190" y="4737021"/>
            <a:ext cx="2291953" cy="725805"/>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Track ticket sales and popular matches.</a:t>
            </a:r>
            <a:endParaRPr lang="en-US" sz="1750" dirty="0"/>
          </a:p>
        </p:txBody>
      </p:sp>
      <p:pic>
        <p:nvPicPr>
          <p:cNvPr id="7" name="Image 2" descr="preencoded.png"/>
          <p:cNvPicPr>
            <a:picLocks noChangeAspect="1"/>
          </p:cNvPicPr>
          <p:nvPr/>
        </p:nvPicPr>
        <p:blipFill>
          <a:blip r:embed="rId5"/>
          <a:stretch>
            <a:fillRect/>
          </a:stretch>
        </p:blipFill>
        <p:spPr>
          <a:xfrm>
            <a:off x="8912304" y="3452813"/>
            <a:ext cx="566976" cy="566976"/>
          </a:xfrm>
          <a:prstGeom prst="rect">
            <a:avLst/>
          </a:prstGeom>
        </p:spPr>
      </p:pic>
      <p:sp>
        <p:nvSpPr>
          <p:cNvPr id="8" name="Text 3"/>
          <p:cNvSpPr/>
          <p:nvPr/>
        </p:nvSpPr>
        <p:spPr>
          <a:xfrm>
            <a:off x="8912304" y="4246602"/>
            <a:ext cx="2292072" cy="708660"/>
          </a:xfrm>
          <a:prstGeom prst="rect">
            <a:avLst/>
          </a:prstGeom>
          <a:noFill/>
          <a:ln/>
        </p:spPr>
        <p:txBody>
          <a:bodyPr wrap="squar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User Demographics</a:t>
            </a:r>
            <a:endParaRPr lang="en-US" sz="2200" dirty="0"/>
          </a:p>
        </p:txBody>
      </p:sp>
      <p:sp>
        <p:nvSpPr>
          <p:cNvPr id="9" name="Text 4"/>
          <p:cNvSpPr/>
          <p:nvPr/>
        </p:nvSpPr>
        <p:spPr>
          <a:xfrm>
            <a:off x="8912304" y="5091351"/>
            <a:ext cx="2292072" cy="725805"/>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Analyze user data to optimize marketing.</a:t>
            </a:r>
            <a:endParaRPr lang="en-US" sz="1750" dirty="0"/>
          </a:p>
        </p:txBody>
      </p:sp>
      <p:pic>
        <p:nvPicPr>
          <p:cNvPr id="10" name="Image 3" descr="preencoded.png"/>
          <p:cNvPicPr>
            <a:picLocks noChangeAspect="1"/>
          </p:cNvPicPr>
          <p:nvPr/>
        </p:nvPicPr>
        <p:blipFill>
          <a:blip r:embed="rId6"/>
          <a:stretch>
            <a:fillRect/>
          </a:stretch>
        </p:blipFill>
        <p:spPr>
          <a:xfrm>
            <a:off x="11544538" y="3452813"/>
            <a:ext cx="566976" cy="566976"/>
          </a:xfrm>
          <a:prstGeom prst="rect">
            <a:avLst/>
          </a:prstGeom>
        </p:spPr>
      </p:pic>
      <p:sp>
        <p:nvSpPr>
          <p:cNvPr id="11" name="Text 5"/>
          <p:cNvSpPr/>
          <p:nvPr/>
        </p:nvSpPr>
        <p:spPr>
          <a:xfrm>
            <a:off x="11544538" y="4246602"/>
            <a:ext cx="2291953" cy="354330"/>
          </a:xfrm>
          <a:prstGeom prst="rect">
            <a:avLst/>
          </a:prstGeom>
          <a:noFill/>
          <a:ln/>
        </p:spPr>
        <p:txBody>
          <a:bodyPr wrap="none" lIns="0" tIns="0" rIns="0" bIns="0" rtlCol="0" anchor="t"/>
          <a:lstStyle/>
          <a:p>
            <a:pPr marL="0" indent="0" algn="l">
              <a:lnSpc>
                <a:spcPts val="2750"/>
              </a:lnSpc>
              <a:buNone/>
            </a:pPr>
            <a:r>
              <a:rPr lang="en-US" sz="2200" b="1" kern="0" spc="-67" dirty="0">
                <a:latin typeface="Inter Bold" pitchFamily="34" charset="0"/>
                <a:ea typeface="Inter Bold" pitchFamily="34" charset="-122"/>
                <a:cs typeface="Inter Bold" pitchFamily="34" charset="-120"/>
              </a:rPr>
              <a:t>System Reports</a:t>
            </a:r>
            <a:endParaRPr lang="en-US" sz="2200" dirty="0"/>
          </a:p>
        </p:txBody>
      </p:sp>
      <p:sp>
        <p:nvSpPr>
          <p:cNvPr id="12" name="Text 6"/>
          <p:cNvSpPr/>
          <p:nvPr/>
        </p:nvSpPr>
        <p:spPr>
          <a:xfrm>
            <a:off x="11544538" y="4737021"/>
            <a:ext cx="2291953" cy="1088708"/>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Generate reports on performance and satisfaction.</a:t>
            </a:r>
            <a:endParaRPr lang="en-US" sz="1750" dirty="0"/>
          </a:p>
        </p:txBody>
      </p:sp>
      <p:pic>
        <p:nvPicPr>
          <p:cNvPr id="14" name="Picture 13">
            <a:extLst>
              <a:ext uri="{FF2B5EF4-FFF2-40B4-BE49-F238E27FC236}">
                <a16:creationId xmlns:a16="http://schemas.microsoft.com/office/drawing/2014/main" xmlns="" id="{2CDE7135-49F3-62C5-246A-26A64DE44D06}"/>
              </a:ext>
            </a:extLst>
          </p:cNvPr>
          <p:cNvPicPr>
            <a:picLocks noChangeAspect="1"/>
          </p:cNvPicPr>
          <p:nvPr/>
        </p:nvPicPr>
        <p:blipFill>
          <a:blip r:embed="rId7"/>
          <a:stretch>
            <a:fillRect/>
          </a:stretch>
        </p:blipFill>
        <p:spPr>
          <a:xfrm>
            <a:off x="12589021" y="7780813"/>
            <a:ext cx="1918715" cy="4021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35235"/>
          </a:xfrm>
          <a:prstGeom prst="rect">
            <a:avLst/>
          </a:prstGeom>
        </p:spPr>
      </p:pic>
      <p:sp>
        <p:nvSpPr>
          <p:cNvPr id="3" name="Text 0"/>
          <p:cNvSpPr/>
          <p:nvPr/>
        </p:nvSpPr>
        <p:spPr>
          <a:xfrm>
            <a:off x="793790" y="3988237"/>
            <a:ext cx="5726192" cy="708779"/>
          </a:xfrm>
          <a:prstGeom prst="rect">
            <a:avLst/>
          </a:prstGeom>
          <a:noFill/>
          <a:ln/>
        </p:spPr>
        <p:txBody>
          <a:bodyPr wrap="non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Future Enhancements</a:t>
            </a:r>
            <a:endParaRPr lang="en-US" sz="4450" dirty="0"/>
          </a:p>
        </p:txBody>
      </p:sp>
      <p:sp>
        <p:nvSpPr>
          <p:cNvPr id="4" name="Shape 1"/>
          <p:cNvSpPr/>
          <p:nvPr/>
        </p:nvSpPr>
        <p:spPr>
          <a:xfrm>
            <a:off x="793790" y="5037177"/>
            <a:ext cx="4196358" cy="2039422"/>
          </a:xfrm>
          <a:prstGeom prst="roundRect">
            <a:avLst>
              <a:gd name="adj" fmla="val 4671"/>
            </a:avLst>
          </a:prstGeom>
          <a:solidFill>
            <a:srgbClr val="110080"/>
          </a:solidFill>
          <a:ln w="7620">
            <a:solidFill>
              <a:srgbClr val="2A1999"/>
            </a:solidFill>
            <a:prstDash val="solid"/>
          </a:ln>
        </p:spPr>
      </p:sp>
      <p:sp>
        <p:nvSpPr>
          <p:cNvPr id="5" name="Text 2"/>
          <p:cNvSpPr/>
          <p:nvPr/>
        </p:nvSpPr>
        <p:spPr>
          <a:xfrm>
            <a:off x="1028224" y="5271611"/>
            <a:ext cx="3618548" cy="354330"/>
          </a:xfrm>
          <a:prstGeom prst="rect">
            <a:avLst/>
          </a:prstGeom>
          <a:noFill/>
          <a:ln/>
        </p:spPr>
        <p:txBody>
          <a:bodyPr wrap="none" lIns="0" tIns="0" rIns="0" bIns="0" rtlCol="0" anchor="t"/>
          <a:lstStyle/>
          <a:p>
            <a:pPr marL="0" indent="0" algn="l">
              <a:lnSpc>
                <a:spcPts val="2750"/>
              </a:lnSpc>
              <a:buNone/>
            </a:pPr>
            <a:r>
              <a:rPr lang="en-US" sz="2200" b="1" kern="0" spc="-67" dirty="0">
                <a:solidFill>
                  <a:schemeClr val="bg1"/>
                </a:solidFill>
                <a:latin typeface="Inter Bold" pitchFamily="34" charset="0"/>
                <a:ea typeface="Inter Bold" pitchFamily="34" charset="-122"/>
                <a:cs typeface="Inter Bold" pitchFamily="34" charset="-120"/>
              </a:rPr>
              <a:t>Loyalty Program Integration</a:t>
            </a:r>
            <a:endParaRPr lang="en-US" sz="2200" dirty="0">
              <a:solidFill>
                <a:schemeClr val="bg1"/>
              </a:solidFill>
            </a:endParaRPr>
          </a:p>
        </p:txBody>
      </p:sp>
      <p:sp>
        <p:nvSpPr>
          <p:cNvPr id="6" name="Text 3"/>
          <p:cNvSpPr/>
          <p:nvPr/>
        </p:nvSpPr>
        <p:spPr>
          <a:xfrm>
            <a:off x="1028224" y="5762030"/>
            <a:ext cx="3727490" cy="725805"/>
          </a:xfrm>
          <a:prstGeom prst="rect">
            <a:avLst/>
          </a:prstGeom>
          <a:noFill/>
          <a:ln/>
        </p:spPr>
        <p:txBody>
          <a:bodyPr wrap="square" lIns="0" tIns="0" rIns="0" bIns="0" rtlCol="0" anchor="t"/>
          <a:lstStyle/>
          <a:p>
            <a:pPr marL="0" indent="0" algn="l">
              <a:lnSpc>
                <a:spcPts val="2850"/>
              </a:lnSpc>
              <a:buNone/>
            </a:pPr>
            <a:r>
              <a:rPr lang="en-US" sz="1750" kern="0" spc="-36" dirty="0">
                <a:solidFill>
                  <a:schemeClr val="bg1"/>
                </a:solidFill>
                <a:latin typeface="Inter" pitchFamily="34" charset="0"/>
                <a:ea typeface="Inter" pitchFamily="34" charset="-122"/>
                <a:cs typeface="Inter" pitchFamily="34" charset="-120"/>
              </a:rPr>
              <a:t>Connect with fan engagement platforms.</a:t>
            </a:r>
            <a:endParaRPr lang="en-US" sz="1750" dirty="0">
              <a:solidFill>
                <a:schemeClr val="bg1"/>
              </a:solidFill>
            </a:endParaRPr>
          </a:p>
        </p:txBody>
      </p:sp>
      <p:sp>
        <p:nvSpPr>
          <p:cNvPr id="7" name="Shape 4"/>
          <p:cNvSpPr/>
          <p:nvPr/>
        </p:nvSpPr>
        <p:spPr>
          <a:xfrm>
            <a:off x="5216962" y="5037177"/>
            <a:ext cx="4196358" cy="2039422"/>
          </a:xfrm>
          <a:prstGeom prst="roundRect">
            <a:avLst>
              <a:gd name="adj" fmla="val 4671"/>
            </a:avLst>
          </a:prstGeom>
          <a:solidFill>
            <a:srgbClr val="110080"/>
          </a:solidFill>
          <a:ln w="7620">
            <a:solidFill>
              <a:srgbClr val="2A1999"/>
            </a:solidFill>
            <a:prstDash val="solid"/>
          </a:ln>
        </p:spPr>
      </p:sp>
      <p:sp>
        <p:nvSpPr>
          <p:cNvPr id="8" name="Text 5"/>
          <p:cNvSpPr/>
          <p:nvPr/>
        </p:nvSpPr>
        <p:spPr>
          <a:xfrm>
            <a:off x="5451396" y="5271611"/>
            <a:ext cx="3727490" cy="708660"/>
          </a:xfrm>
          <a:prstGeom prst="rect">
            <a:avLst/>
          </a:prstGeom>
          <a:noFill/>
          <a:ln/>
        </p:spPr>
        <p:txBody>
          <a:bodyPr wrap="square" lIns="0" tIns="0" rIns="0" bIns="0" rtlCol="0" anchor="t"/>
          <a:lstStyle/>
          <a:p>
            <a:pPr marL="0" indent="0" algn="l">
              <a:lnSpc>
                <a:spcPts val="2750"/>
              </a:lnSpc>
              <a:buNone/>
            </a:pPr>
            <a:r>
              <a:rPr lang="en-US" sz="2200" b="1" kern="0" spc="-67" dirty="0">
                <a:solidFill>
                  <a:schemeClr val="bg1"/>
                </a:solidFill>
                <a:latin typeface="Inter Bold" pitchFamily="34" charset="0"/>
                <a:ea typeface="Inter Bold" pitchFamily="34" charset="-122"/>
                <a:cs typeface="Inter Bold" pitchFamily="34" charset="-120"/>
              </a:rPr>
              <a:t>Personalized Recommendations</a:t>
            </a:r>
            <a:endParaRPr lang="en-US" sz="2200" dirty="0">
              <a:solidFill>
                <a:schemeClr val="bg1"/>
              </a:solidFill>
            </a:endParaRPr>
          </a:p>
        </p:txBody>
      </p:sp>
      <p:sp>
        <p:nvSpPr>
          <p:cNvPr id="9" name="Text 6"/>
          <p:cNvSpPr/>
          <p:nvPr/>
        </p:nvSpPr>
        <p:spPr>
          <a:xfrm>
            <a:off x="5451396" y="6116360"/>
            <a:ext cx="3727490" cy="725805"/>
          </a:xfrm>
          <a:prstGeom prst="rect">
            <a:avLst/>
          </a:prstGeom>
          <a:noFill/>
          <a:ln/>
        </p:spPr>
        <p:txBody>
          <a:bodyPr wrap="square" lIns="0" tIns="0" rIns="0" bIns="0" rtlCol="0" anchor="t"/>
          <a:lstStyle/>
          <a:p>
            <a:pPr marL="0" indent="0" algn="l">
              <a:lnSpc>
                <a:spcPts val="2850"/>
              </a:lnSpc>
              <a:buNone/>
            </a:pPr>
            <a:r>
              <a:rPr lang="en-US" sz="1750" kern="0" spc="-36" dirty="0">
                <a:solidFill>
                  <a:schemeClr val="bg1"/>
                </a:solidFill>
                <a:latin typeface="Inter" pitchFamily="34" charset="0"/>
                <a:ea typeface="Inter" pitchFamily="34" charset="-122"/>
                <a:cs typeface="Inter" pitchFamily="34" charset="-120"/>
              </a:rPr>
              <a:t>Offer tickets based on user preferences.</a:t>
            </a:r>
            <a:endParaRPr lang="en-US" sz="1750" dirty="0">
              <a:solidFill>
                <a:schemeClr val="bg1"/>
              </a:solidFill>
            </a:endParaRPr>
          </a:p>
        </p:txBody>
      </p:sp>
      <p:sp>
        <p:nvSpPr>
          <p:cNvPr id="10" name="Shape 7"/>
          <p:cNvSpPr/>
          <p:nvPr/>
        </p:nvSpPr>
        <p:spPr>
          <a:xfrm>
            <a:off x="9640133" y="5037177"/>
            <a:ext cx="4196358" cy="2039422"/>
          </a:xfrm>
          <a:prstGeom prst="roundRect">
            <a:avLst>
              <a:gd name="adj" fmla="val 4671"/>
            </a:avLst>
          </a:prstGeom>
          <a:solidFill>
            <a:srgbClr val="110080"/>
          </a:solidFill>
          <a:ln w="7620">
            <a:solidFill>
              <a:srgbClr val="2A1999"/>
            </a:solidFill>
            <a:prstDash val="solid"/>
          </a:ln>
        </p:spPr>
      </p:sp>
      <p:sp>
        <p:nvSpPr>
          <p:cNvPr id="11" name="Text 8"/>
          <p:cNvSpPr/>
          <p:nvPr/>
        </p:nvSpPr>
        <p:spPr>
          <a:xfrm>
            <a:off x="9874568" y="5271611"/>
            <a:ext cx="3695700" cy="354330"/>
          </a:xfrm>
          <a:prstGeom prst="rect">
            <a:avLst/>
          </a:prstGeom>
          <a:noFill/>
          <a:ln/>
        </p:spPr>
        <p:txBody>
          <a:bodyPr wrap="none" lIns="0" tIns="0" rIns="0" bIns="0" rtlCol="0" anchor="t"/>
          <a:lstStyle/>
          <a:p>
            <a:pPr marL="0" indent="0" algn="l">
              <a:lnSpc>
                <a:spcPts val="2750"/>
              </a:lnSpc>
              <a:buNone/>
            </a:pPr>
            <a:r>
              <a:rPr lang="en-US" sz="2200" b="1" kern="0" spc="-67" dirty="0">
                <a:solidFill>
                  <a:schemeClr val="bg1"/>
                </a:solidFill>
                <a:latin typeface="Inter Bold" pitchFamily="34" charset="0"/>
                <a:ea typeface="Inter Bold" pitchFamily="34" charset="-122"/>
                <a:cs typeface="Inter Bold" pitchFamily="34" charset="-120"/>
              </a:rPr>
              <a:t>Augmented Reality Features</a:t>
            </a:r>
            <a:endParaRPr lang="en-US" sz="2200" dirty="0">
              <a:solidFill>
                <a:schemeClr val="bg1"/>
              </a:solidFill>
            </a:endParaRPr>
          </a:p>
        </p:txBody>
      </p:sp>
      <p:sp>
        <p:nvSpPr>
          <p:cNvPr id="12" name="Text 9"/>
          <p:cNvSpPr/>
          <p:nvPr/>
        </p:nvSpPr>
        <p:spPr>
          <a:xfrm>
            <a:off x="9874568" y="5762030"/>
            <a:ext cx="3727490" cy="725805"/>
          </a:xfrm>
          <a:prstGeom prst="rect">
            <a:avLst/>
          </a:prstGeom>
          <a:noFill/>
          <a:ln/>
        </p:spPr>
        <p:txBody>
          <a:bodyPr wrap="square" lIns="0" tIns="0" rIns="0" bIns="0" rtlCol="0" anchor="t"/>
          <a:lstStyle/>
          <a:p>
            <a:pPr marL="0" indent="0" algn="l">
              <a:lnSpc>
                <a:spcPts val="2850"/>
              </a:lnSpc>
              <a:buNone/>
            </a:pPr>
            <a:r>
              <a:rPr lang="en-US" sz="1750" kern="0" spc="-36" dirty="0">
                <a:solidFill>
                  <a:schemeClr val="bg1"/>
                </a:solidFill>
                <a:latin typeface="Inter" pitchFamily="34" charset="0"/>
                <a:ea typeface="Inter" pitchFamily="34" charset="-122"/>
                <a:cs typeface="Inter" pitchFamily="34" charset="-120"/>
              </a:rPr>
              <a:t>Provide virtual stadium tours and seat previews.</a:t>
            </a:r>
            <a:endParaRPr lang="en-US" sz="1750" dirty="0">
              <a:solidFill>
                <a:schemeClr val="bg1"/>
              </a:solidFill>
            </a:endParaRPr>
          </a:p>
        </p:txBody>
      </p:sp>
      <p:pic>
        <p:nvPicPr>
          <p:cNvPr id="14" name="Picture 13">
            <a:extLst>
              <a:ext uri="{FF2B5EF4-FFF2-40B4-BE49-F238E27FC236}">
                <a16:creationId xmlns:a16="http://schemas.microsoft.com/office/drawing/2014/main" xmlns="" id="{67B3449C-32AF-87F0-DF7C-E29621690B72}"/>
              </a:ext>
            </a:extLst>
          </p:cNvPr>
          <p:cNvPicPr>
            <a:picLocks noChangeAspect="1"/>
          </p:cNvPicPr>
          <p:nvPr/>
        </p:nvPicPr>
        <p:blipFill>
          <a:blip r:embed="rId4"/>
          <a:stretch>
            <a:fillRect/>
          </a:stretch>
        </p:blipFill>
        <p:spPr>
          <a:xfrm>
            <a:off x="12831470" y="7801452"/>
            <a:ext cx="1798930" cy="37702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510076"/>
            <a:ext cx="7556421" cy="1417558"/>
          </a:xfrm>
          <a:prstGeom prst="rect">
            <a:avLst/>
          </a:prstGeom>
          <a:noFill/>
          <a:ln/>
        </p:spPr>
        <p:txBody>
          <a:bodyPr wrap="square" lIns="0" tIns="0" rIns="0" bIns="0" rtlCol="0" anchor="t"/>
          <a:lstStyle/>
          <a:p>
            <a:pPr marL="0" indent="0" algn="l">
              <a:lnSpc>
                <a:spcPts val="5550"/>
              </a:lnSpc>
              <a:buNone/>
            </a:pPr>
            <a:r>
              <a:rPr lang="en-US" sz="4450" b="1" kern="0" spc="-134" dirty="0">
                <a:latin typeface="Inter Bold" pitchFamily="34" charset="0"/>
                <a:ea typeface="Inter Bold" pitchFamily="34" charset="-122"/>
                <a:cs typeface="Inter Bold" pitchFamily="34" charset="-120"/>
              </a:rPr>
              <a:t>Conclusion: Enhancing the IPL Experience</a:t>
            </a:r>
            <a:endParaRPr lang="en-US" sz="4450" dirty="0"/>
          </a:p>
        </p:txBody>
      </p:sp>
      <p:sp>
        <p:nvSpPr>
          <p:cNvPr id="4" name="Text 1"/>
          <p:cNvSpPr/>
          <p:nvPr/>
        </p:nvSpPr>
        <p:spPr>
          <a:xfrm>
            <a:off x="793790" y="4267795"/>
            <a:ext cx="7556421" cy="1451610"/>
          </a:xfrm>
          <a:prstGeom prst="rect">
            <a:avLst/>
          </a:prstGeom>
          <a:noFill/>
          <a:ln/>
        </p:spPr>
        <p:txBody>
          <a:bodyPr wrap="square" lIns="0" tIns="0" rIns="0" bIns="0" rtlCol="0" anchor="t"/>
          <a:lstStyle/>
          <a:p>
            <a:pPr marL="0" indent="0" algn="l">
              <a:lnSpc>
                <a:spcPts val="2850"/>
              </a:lnSpc>
              <a:buNone/>
            </a:pPr>
            <a:r>
              <a:rPr lang="en-US" sz="1750" kern="0" spc="-36" dirty="0">
                <a:latin typeface="Inter" pitchFamily="34" charset="0"/>
                <a:ea typeface="Inter" pitchFamily="34" charset="-122"/>
                <a:cs typeface="Inter" pitchFamily="34" charset="-120"/>
              </a:rPr>
              <a:t>The IPL ticket booking system transforms how fans access and enjoy cricket. Its success comes from fair access, secure transactions, and a seamless user experience. An ongoing commitment to innovation meets the evolving needs of fans. Thank you.</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99746" y="947295"/>
            <a:ext cx="8830907" cy="6335009"/>
          </a:xfrm>
          <a:prstGeom prst="rect">
            <a:avLst/>
          </a:prstGeom>
        </p:spPr>
      </p:pic>
    </p:spTree>
    <p:extLst>
      <p:ext uri="{BB962C8B-B14F-4D97-AF65-F5344CB8AC3E}">
        <p14:creationId xmlns:p14="http://schemas.microsoft.com/office/powerpoint/2010/main" val="1881779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95062" y="1514112"/>
            <a:ext cx="8240275" cy="5201376"/>
          </a:xfrm>
          <a:prstGeom prst="rect">
            <a:avLst/>
          </a:prstGeom>
        </p:spPr>
      </p:pic>
    </p:spTree>
    <p:extLst>
      <p:ext uri="{BB962C8B-B14F-4D97-AF65-F5344CB8AC3E}">
        <p14:creationId xmlns:p14="http://schemas.microsoft.com/office/powerpoint/2010/main" val="1601043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176010" y="1109243"/>
            <a:ext cx="8278380" cy="6011114"/>
          </a:xfrm>
          <a:prstGeom prst="rect">
            <a:avLst/>
          </a:prstGeom>
        </p:spPr>
      </p:pic>
    </p:spTree>
    <p:extLst>
      <p:ext uri="{BB962C8B-B14F-4D97-AF65-F5344CB8AC3E}">
        <p14:creationId xmlns:p14="http://schemas.microsoft.com/office/powerpoint/2010/main" val="3814383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490378" y="1299769"/>
            <a:ext cx="7649643" cy="5630061"/>
          </a:xfrm>
          <a:prstGeom prst="rect">
            <a:avLst/>
          </a:prstGeom>
        </p:spPr>
      </p:pic>
    </p:spTree>
    <p:extLst>
      <p:ext uri="{BB962C8B-B14F-4D97-AF65-F5344CB8AC3E}">
        <p14:creationId xmlns:p14="http://schemas.microsoft.com/office/powerpoint/2010/main" val="12536421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09511" y="1242611"/>
            <a:ext cx="7011378" cy="5744377"/>
          </a:xfrm>
          <a:prstGeom prst="rect">
            <a:avLst/>
          </a:prstGeom>
        </p:spPr>
      </p:pic>
    </p:spTree>
    <p:extLst>
      <p:ext uri="{BB962C8B-B14F-4D97-AF65-F5344CB8AC3E}">
        <p14:creationId xmlns:p14="http://schemas.microsoft.com/office/powerpoint/2010/main" val="42788683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685668" y="2642982"/>
            <a:ext cx="7259063" cy="2943636"/>
          </a:xfrm>
          <a:prstGeom prst="rect">
            <a:avLst/>
          </a:prstGeom>
        </p:spPr>
      </p:pic>
    </p:spTree>
    <p:extLst>
      <p:ext uri="{BB962C8B-B14F-4D97-AF65-F5344CB8AC3E}">
        <p14:creationId xmlns:p14="http://schemas.microsoft.com/office/powerpoint/2010/main" val="7221971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44</TotalTime>
  <Words>354</Words>
  <Application>Microsoft Office PowerPoint</Application>
  <PresentationFormat>Custom</PresentationFormat>
  <Paragraphs>62</Paragraphs>
  <Slides>14</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4</cp:revision>
  <dcterms:created xsi:type="dcterms:W3CDTF">2025-03-24T16:01:35Z</dcterms:created>
  <dcterms:modified xsi:type="dcterms:W3CDTF">2025-03-24T18:05:28Z</dcterms:modified>
</cp:coreProperties>
</file>